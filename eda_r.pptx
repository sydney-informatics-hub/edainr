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7" r:id="rId3"/>
    <p:sldMasterId id="2147483671" r:id="rId4"/>
    <p:sldMasterId id="2147483700" r:id="rId5"/>
  </p:sldMasterIdLst>
  <p:notesMasterIdLst>
    <p:notesMasterId r:id="rId56"/>
  </p:notesMasterIdLst>
  <p:sldIdLst>
    <p:sldId id="412" r:id="rId6"/>
    <p:sldId id="354" r:id="rId7"/>
    <p:sldId id="408" r:id="rId8"/>
    <p:sldId id="446" r:id="rId9"/>
    <p:sldId id="450" r:id="rId10"/>
    <p:sldId id="413" r:id="rId11"/>
    <p:sldId id="447" r:id="rId12"/>
    <p:sldId id="414" r:id="rId13"/>
    <p:sldId id="415" r:id="rId14"/>
    <p:sldId id="416" r:id="rId15"/>
    <p:sldId id="418" r:id="rId16"/>
    <p:sldId id="449" r:id="rId17"/>
    <p:sldId id="456" r:id="rId18"/>
    <p:sldId id="421" r:id="rId19"/>
    <p:sldId id="458" r:id="rId20"/>
    <p:sldId id="459" r:id="rId21"/>
    <p:sldId id="460" r:id="rId22"/>
    <p:sldId id="420" r:id="rId23"/>
    <p:sldId id="451" r:id="rId24"/>
    <p:sldId id="452" r:id="rId25"/>
    <p:sldId id="453" r:id="rId26"/>
    <p:sldId id="457" r:id="rId27"/>
    <p:sldId id="454" r:id="rId28"/>
    <p:sldId id="462" r:id="rId29"/>
    <p:sldId id="463" r:id="rId30"/>
    <p:sldId id="464" r:id="rId31"/>
    <p:sldId id="423" r:id="rId32"/>
    <p:sldId id="424" r:id="rId33"/>
    <p:sldId id="425" r:id="rId34"/>
    <p:sldId id="426" r:id="rId35"/>
    <p:sldId id="427" r:id="rId36"/>
    <p:sldId id="428" r:id="rId37"/>
    <p:sldId id="429" r:id="rId38"/>
    <p:sldId id="430" r:id="rId39"/>
    <p:sldId id="431" r:id="rId40"/>
    <p:sldId id="432" r:id="rId41"/>
    <p:sldId id="441" r:id="rId42"/>
    <p:sldId id="433" r:id="rId43"/>
    <p:sldId id="434" r:id="rId44"/>
    <p:sldId id="435" r:id="rId45"/>
    <p:sldId id="436" r:id="rId46"/>
    <p:sldId id="437" r:id="rId47"/>
    <p:sldId id="442" r:id="rId48"/>
    <p:sldId id="438" r:id="rId49"/>
    <p:sldId id="439" r:id="rId50"/>
    <p:sldId id="443" r:id="rId51"/>
    <p:sldId id="440" r:id="rId52"/>
    <p:sldId id="445" r:id="rId53"/>
    <p:sldId id="378" r:id="rId54"/>
    <p:sldId id="44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1"/>
    <p:restoredTop sz="70340"/>
  </p:normalViewPr>
  <p:slideViewPr>
    <p:cSldViewPr snapToGrid="0">
      <p:cViewPr varScale="1">
        <p:scale>
          <a:sx n="88" d="100"/>
          <a:sy n="88" d="100"/>
        </p:scale>
        <p:origin x="9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presProps" Target="presProp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49069-9EE2-8040-A084-91663C1DE0A2}" type="datetimeFigureOut">
              <a:rPr lang="en-US" smtClean="0"/>
              <a:t>2/26/25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C445D-259E-C040-8F16-F5BC3A155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4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86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7220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64263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9330-0F54-EFBB-AD72-2F3FE39D3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0220A-4F10-C205-B40E-914B4B58F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A0BA9-6D66-FE2B-1D28-313F01C64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BC8C3-ABA3-7AE1-D1B5-FD2F1CE94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9211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81AC5-3245-4E56-2534-D0D0F69EB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837790-CBF9-C8CC-C9FB-EBA56044E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5AAA8-CD83-41D4-0D65-A491C90C7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F3EDF-3249-E710-3C53-B0E68ACF1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93810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7852-DEA7-47EA-0150-BAF5B8F0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3736D-D3EE-3AB6-70C4-05087273D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415F1-5A5F-91FE-E068-BBCA3971D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DA883-F5D4-80AE-7CE9-59C4FDCC9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043943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F7334-30C1-A437-61D7-488AD4073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86B0A-D686-3CF5-F97D-BDD0D54B7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C8BC9F-2449-4A7C-FCB9-B761BD5D9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001C2-76A5-E689-DC33-275BBED37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41452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6ABA-38B0-806C-DE29-901DA71AB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EDDE9-71D8-ABAE-C83A-50918AA07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4E8A4F-59AA-74DF-6089-50677F91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4AD27-7758-1099-9EF8-F0C7135AC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85507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679060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 if we have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23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hyperlink" Target="mailto:first.last@sydney.edu.au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59BD9-1F69-26BF-E93E-CA9DEC177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482F8-A3C1-0312-223E-F666E0EAC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3AC2A-5D48-201F-CF21-BE4C4775A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A25A2-C37B-F36B-B25D-5119E7D62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0F8DF-38F4-D2E5-3A9A-77F266398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46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19B7-CD70-2D70-0424-378691F34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39A43-B9B6-49B2-9F2D-81F89618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87490-D281-4CEF-4CDF-1FF0C2B30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D37D1-C18A-520F-3662-95FC9768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C3C43-3B0F-8580-749B-BA691FF4D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83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3771-7C84-E480-1D41-FD048B73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7CC3F-2B00-78D7-DB68-09367693A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805DB-7F06-A662-10D5-ACB5A2CCD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437C2-9FDA-5B9D-7BE5-14D08BD93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BD048-7AA5-778F-95CD-DBC2D9BD9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2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3DD4-5146-8BA4-EB81-3D1D9A72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0AEB9-195D-FB7C-FEC0-CFDDC88ED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787783-90F7-8DC1-F26F-4180655A9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E4336-551C-0F6C-A7B4-62366902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B24847-988D-CCD5-CF19-204F95150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A73DF-E58A-8A7C-6C6C-FE32FB293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0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5162C-1E14-7C02-13BA-249EE6545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65513D-88A1-E9E9-FA64-B03FEFC4F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45EC4-3C8B-2CAB-082E-C3CBFD02A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2B6BD-7F50-2993-6E13-B08F13921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8BF63-90D8-03C0-1BCA-D4495DB212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74F16C-6260-16F8-6964-B4B8CBB8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C15DD2-6112-8E35-17D1-64AB35B2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153E4-41AF-5ED7-A7D3-6CD9600F5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75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4808F-8812-BE47-182E-852D05DAF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970382-1806-3A37-8596-54552A9CE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3DF1C-EDE2-5FEB-719C-415675BE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CECF9-EAB0-C68F-0C43-9A16AC4E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9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A14FAF-3B68-802C-06F5-B48915FF0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E3448A-E092-4080-FD8D-BDB3C40CB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33D24-B126-ACBD-287C-06CCE935C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23CCC-821D-033D-B9F8-93F5689AB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9554C-72D4-E70D-C053-3DFEABA9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E231E8-75D1-AF7F-CEC6-B2429BA7F4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C03F84-DB37-1194-B727-181B5E19E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164F9F-117E-CF00-01C3-8DDFF87AD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2D290-C7D4-9942-87CC-604CC8023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7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D0BE4-7901-2C29-A46C-FE81F8B2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12829-FB4B-BB00-765A-FA9191C29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9F3E64-A37C-DBBF-8EC0-9FF22B37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EAC888-CD94-A987-8A57-9243BF39E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368DF-BC7C-2F81-AD06-BB92DDECF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7E3AE-D861-9D88-6E0D-554C8C7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5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AB2C-7005-69A3-9927-04F24C71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56C17A-9BD5-3E48-3830-68F4A42EF5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486D7-7D8F-9C8B-4714-A92D4074E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E1FFE-A448-BA1B-E530-94DEC73AD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2E538-D5F7-C79C-66C7-CDD70FE9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6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2AF96-08E8-35D4-015F-C9A1D821DE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8DFC9-FB08-BDD6-E3EB-4F132FB45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58C1E-905D-1669-34FF-C68A40B27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AF657-BA34-E60B-55B2-1DBD152C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24A50-9BAC-E731-F169-D948183A4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855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64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77221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26C391-EC2F-854E-3FAC-8EDA85399D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EC1A71F-2256-88FB-1073-78B7D8E702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2001" y="2417231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 b="0" i="1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r>
              <a:rPr lang="en-GB" dirty="0"/>
              <a:t>Presentation subheading </a:t>
            </a:r>
            <a:br>
              <a:rPr lang="en-GB" dirty="0"/>
            </a:br>
            <a:r>
              <a:rPr lang="en-GB" dirty="0"/>
              <a:t>can go over 2 lines 28pt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A5ABDE1-C8DD-9C86-C1BA-029E99357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4144433"/>
            <a:ext cx="7378623" cy="80856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45E8-E21B-1585-9AF6-BBB77FE87561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  <p:pic>
        <p:nvPicPr>
          <p:cNvPr id="11" name="Picture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520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7B6FB2-6FB1-E8EE-71E2-F3031BBC4C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73DE4E7-C9AA-0998-373D-DCFBF8D610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2417696"/>
            <a:ext cx="7378623" cy="25353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D0328F7-E70B-70FE-8296-A6A9465B3C0D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46411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7">
            <a:extLst>
              <a:ext uri="{FF2B5EF4-FFF2-40B4-BE49-F238E27FC236}">
                <a16:creationId xmlns:a16="http://schemas.microsoft.com/office/drawing/2014/main" id="{5682CEC0-2F2F-E2FD-4FDE-2AF1F4D1A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5080" y="0"/>
            <a:ext cx="1220708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729635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6">
            <a:extLst>
              <a:ext uri="{FF2B5EF4-FFF2-40B4-BE49-F238E27FC236}">
                <a16:creationId xmlns:a16="http://schemas.microsoft.com/office/drawing/2014/main" id="{351BF546-A7D6-4DDD-D34D-2811CA1DFCD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358965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4">
            <a:extLst>
              <a:ext uri="{FF2B5EF4-FFF2-40B4-BE49-F238E27FC236}">
                <a16:creationId xmlns:a16="http://schemas.microsoft.com/office/drawing/2014/main" id="{A9A93A07-E57F-5770-834F-CFEF4A2F1EA7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1364837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3F48FE3D-1F01-EEB6-6A4A-4F4B29D064A5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27470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73575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28786" marR="6773" indent="-12700" algn="l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solidFill>
                  <a:schemeClr val="tx1"/>
                </a:solidFill>
                <a:latin typeface="Arial"/>
                <a:cs typeface="Arial"/>
              </a:rPr>
              <a:t>We recognise and pay respect to the Elders and communities – past, present, and emerging – of the lands that the University of Sydney's campuses stand on. For thousands of years they have shared and exchanged knowledges across innumerable generations for the benefit of all.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560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85767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68578" marR="6773" indent="-52492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University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Sydney’s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Camperdown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sits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Gadigal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people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with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campuses,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teaching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research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facilities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6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3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Gamaraygal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Dharug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Wangal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Darkinyung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13" dirty="0" err="1">
                <a:latin typeface="Arial"/>
                <a:cs typeface="Arial"/>
              </a:rPr>
              <a:t>Burramadagal</a:t>
            </a:r>
            <a:r>
              <a:rPr lang="en-AU" sz="2400" spc="-13" dirty="0">
                <a:latin typeface="Arial"/>
                <a:cs typeface="Arial"/>
              </a:rPr>
              <a:t>, </a:t>
            </a:r>
            <a:r>
              <a:rPr lang="en-AU" sz="2400" dirty="0" err="1">
                <a:latin typeface="Arial"/>
                <a:cs typeface="Arial"/>
              </a:rPr>
              <a:t>Dharawal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Gandangara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Gamilaraay,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Barkindji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Bundjalung,</a:t>
            </a:r>
            <a:r>
              <a:rPr lang="en-AU" sz="2400" spc="-13" dirty="0">
                <a:latin typeface="Arial"/>
                <a:cs typeface="Arial"/>
              </a:rPr>
              <a:t> Wiradjuri, </a:t>
            </a:r>
            <a:r>
              <a:rPr lang="en-AU" sz="2400" dirty="0" err="1">
                <a:latin typeface="Arial"/>
                <a:cs typeface="Arial"/>
              </a:rPr>
              <a:t>Ngunawal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Gagadju</a:t>
            </a:r>
            <a:r>
              <a:rPr lang="en-AU" sz="2400" spc="-13" dirty="0">
                <a:latin typeface="Arial"/>
                <a:cs typeface="Arial"/>
              </a:rPr>
              <a:t> peoples.</a:t>
            </a:r>
            <a:endParaRPr lang="en-AU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68037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D2DBAA-0372-EA1B-CAD1-7C9766B446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78933" y="1312091"/>
            <a:ext cx="7349067" cy="2015309"/>
          </a:xfrm>
          <a:prstGeom prst="rect">
            <a:avLst/>
          </a:prstGeom>
        </p:spPr>
        <p:txBody>
          <a:bodyPr lIns="0" tIns="0" rIns="0" bIns="0"/>
          <a:lstStyle>
            <a:lvl1pPr marL="16933" marR="6773" indent="0" algn="l">
              <a:lnSpc>
                <a:spcPct val="100000"/>
              </a:lnSpc>
              <a:spcBef>
                <a:spcPts val="133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2400" i="0" dirty="0">
                <a:latin typeface="Arial"/>
                <a:cs typeface="Arial"/>
              </a:rPr>
              <a:t>Add in own text for Acknowledgement of Country 18pt</a:t>
            </a:r>
            <a:endParaRPr lang="en-AU" sz="2400" i="0" spc="-2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55088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14505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46159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 title (line and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1379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7F195D-1D75-7971-7AE4-F2EDDB4FE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90695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7BF0C12-4EFA-AA48-3CFD-E595F2CE757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9336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Sandstone backgrou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Sandstone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11618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Light Grey backgroun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light grey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71430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8" name="Placeholder text 2">
            <a:extLst>
              <a:ext uri="{FF2B5EF4-FFF2-40B4-BE49-F238E27FC236}">
                <a16:creationId xmlns:a16="http://schemas.microsoft.com/office/drawing/2014/main" id="{4750A85D-7EC4-4F3C-A957-3387FB721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7222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8B76861-0B8E-1907-DDCC-D9BE0F7299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2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4563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91CD0B-A249-E00E-D26B-FCB09FEB61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3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/>
              <a:t>Text Placeholder 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232550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86323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AE129D5-BC83-5BC6-7696-A62ABBA70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EE874E2-82AB-542D-E56B-2FB8466A88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7959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5909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9C3E4A-3CEE-6A06-BFB0-526F77478D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DFC8A7E-2401-E620-E338-5D28D2506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67087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104634B-900F-6E88-EAFF-FBF5C77F1A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726169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22919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36768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3804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2 objects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sz="half" idx="2" hasCustomPrompt="1"/>
          </p:nvPr>
        </p:nvSpPr>
        <p:spPr>
          <a:xfrm>
            <a:off x="2508251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CF546AC-A09B-3B79-BF41-C9B5E391B8D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7224184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93909B7-37E7-FB1F-A3FB-7C585D474988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16" name="bg object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22753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82896720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medium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7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4087240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24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80729137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7119932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1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119932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3E7C6475-9E09-2C25-60AA-C01FFE549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" y="0"/>
            <a:ext cx="6095999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690FE27-A077-176C-683F-060F8B919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19931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4318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2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C846B-3BBC-0A9B-343F-8DA8440D4F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9223EA41-0E53-E4BC-82D3-F2D428AADB0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7" y="0"/>
            <a:ext cx="6109223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95683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06AF4810-CD2A-169B-7819-02D6EDE1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4236" y="0"/>
            <a:ext cx="608277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62000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3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A9B2E54-042A-B95A-337E-B5C4C9A5CC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F473830-12BA-DF64-1A9E-1CAE3632CA0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4925314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000" y="787400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4" name="Rectangle 0">
            <a:extLst>
              <a:ext uri="{FF2B5EF4-FFF2-40B4-BE49-F238E27FC236}">
                <a16:creationId xmlns:a16="http://schemas.microsoft.com/office/drawing/2014/main" id="{D01AF305-2512-8B00-F76B-C57D23274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608277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4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A1A2B76-7231-1188-47F7-90C1CBB052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61410"/>
            <a:ext cx="4074583" cy="2760133"/>
          </a:xfrm>
        </p:spPr>
        <p:txBody>
          <a:bodyPr/>
          <a:lstStyle>
            <a:lvl1pPr marL="22859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1pPr>
            <a:lvl2pPr marL="83817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2pPr>
            <a:lvl3pPr marL="144776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3pPr>
            <a:lvl4pPr marL="205734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4pPr>
            <a:lvl5pPr marL="2666933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01BB514-CFB3-0A62-D442-0367254D28E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61735968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8585A7-12B9-F7BC-085D-8B7FD93EC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7123" y="0"/>
            <a:ext cx="7014877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477328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5</a:t>
            </a:r>
            <a:br>
              <a:rPr lang="en-AU" dirty="0"/>
            </a:br>
            <a:r>
              <a:rPr lang="en-US" dirty="0"/>
              <a:t>Title, text box + images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260F83-22E0-FB93-2602-46785993E9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2762" y="2861410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23536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E67DE4A2-A084-6CFF-A647-B7F40F5B328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58658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923536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5" name="Picture Placeholder 6">
            <a:extLst>
              <a:ext uri="{FF2B5EF4-FFF2-40B4-BE49-F238E27FC236}">
                <a16:creationId xmlns:a16="http://schemas.microsoft.com/office/drawing/2014/main" id="{1EDA01D0-B9B6-53CA-5A69-95C997DC2B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58658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7705675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990600"/>
            <a:ext cx="10658323" cy="50800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6 – single line</a:t>
            </a:r>
            <a:endParaRPr dirty="0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62000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F9157D3-AB43-6EAD-7F21-F164319B311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66169" y="1912739"/>
            <a:ext cx="2664000" cy="1872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66172" y="3943968"/>
            <a:ext cx="2661665" cy="1920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79C8713-47DB-6665-EC36-148C9CB7B0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81533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" name="Text Placeholder 6"/>
          <p:cNvSpPr>
            <a:spLocks noGrp="1"/>
          </p:cNvSpPr>
          <p:nvPr>
            <p:ph type="body" idx="1"/>
          </p:nvPr>
        </p:nvSpPr>
        <p:spPr>
          <a:xfrm>
            <a:off x="762000" y="5969000"/>
            <a:ext cx="10659533" cy="29089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9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67058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23777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no image</a:t>
            </a:r>
            <a:endParaRPr dirty="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01046116-FA83-47AD-17FA-94D776E8C805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516069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3" name="Holder 2"/>
          <p:cNvSpPr>
            <a:spLocks noGrp="1"/>
          </p:cNvSpPr>
          <p:nvPr>
            <p:ph type="body" idx="1" hasCustomPrompt="1"/>
          </p:nvPr>
        </p:nvSpPr>
        <p:spPr>
          <a:xfrm>
            <a:off x="2516069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</a:p>
          <a:p>
            <a:endParaRPr lang="en-AU" dirty="0"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2593A6BD-50DF-0434-8D9C-6C5105B3794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950611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13" name="Holder 4">
            <a:extLst>
              <a:ext uri="{FF2B5EF4-FFF2-40B4-BE49-F238E27FC236}">
                <a16:creationId xmlns:a16="http://schemas.microsoft.com/office/drawing/2014/main" id="{980934C0-12AC-D7ED-F525-AC922980850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950611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66581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50296C6E-3B64-67D7-F619-28187B129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0"/>
                </a:moveTo>
                <a:lnTo>
                  <a:pt x="0" y="0"/>
                </a:lnTo>
                <a:lnTo>
                  <a:pt x="0" y="5143500"/>
                </a:lnTo>
                <a:lnTo>
                  <a:pt x="9144000" y="5143500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B06A1B-395E-4CB0-3B0C-D14FDE9BA0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6453" y="3014931"/>
            <a:ext cx="2439097" cy="844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03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och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3E466C-1ADC-0DA2-E815-89094AED25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76452" y="3014930"/>
            <a:ext cx="2439097" cy="85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49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E8375F2-9EFB-E2E0-D249-EBD6EB92736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5286413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097E-185C-39F4-467B-3196A19AD66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accent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1323358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>
            <a:extLst>
              <a:ext uri="{FF2B5EF4-FFF2-40B4-BE49-F238E27FC236}">
                <a16:creationId xmlns:a16="http://schemas.microsoft.com/office/drawing/2014/main" id="{69D3DD68-72FE-5430-2CCD-62A73AAF985C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36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44173-B046-E632-8483-B2707C81E7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0DE0EA6B-E5AC-3B11-BD85-9AE2F2B2B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2"/>
            <a:ext cx="12191997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08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59FF160-6414-B7D0-2DD1-0585D58A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1787"/>
            <a:ext cx="12188827" cy="6859788"/>
          </a:xfrm>
          <a:prstGeom prst="rect">
            <a:avLst/>
          </a:prstGeom>
        </p:spPr>
      </p:pic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E3B0390-CE09-F982-4224-39703DE91AD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418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1">
            <a:extLst>
              <a:ext uri="{FF2B5EF4-FFF2-40B4-BE49-F238E27FC236}">
                <a16:creationId xmlns:a16="http://schemas.microsoft.com/office/drawing/2014/main" id="{3DE60E2F-8D86-E014-B1B6-8CC60B835BB9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4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A3A6835A-E678-9758-9D77-104E4690DC8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897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7EFA4-5A0B-BEF2-9D70-1A347D686B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93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D3558D7F-D425-CB58-246D-476403851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DBF24C0-EEA2-4E54-D028-0224BD962CC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485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>
            <a:extLst>
              <a:ext uri="{FF2B5EF4-FFF2-40B4-BE49-F238E27FC236}">
                <a16:creationId xmlns:a16="http://schemas.microsoft.com/office/drawing/2014/main" id="{28B85562-1D3A-B537-DAF4-3A657A3D4AE6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2176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34644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rtlCol="0"/>
          <a:lstStyle/>
          <a:p>
            <a:endParaRPr sz="2400" dirty="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7296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284C3413-144B-3E34-A5A7-2A85DAA6364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74685" y="2209800"/>
            <a:ext cx="4203700" cy="3149600"/>
          </a:xfrm>
          <a:prstGeom prst="rect">
            <a:avLst/>
          </a:prstGeom>
        </p:spPr>
        <p:txBody>
          <a:bodyPr lIns="0" anchor="b" anchorCtr="0"/>
          <a:lstStyle>
            <a:lvl1pPr marL="16933" marR="948243" indent="0">
              <a:lnSpc>
                <a:spcPct val="100000"/>
              </a:lnSpc>
              <a:spcBef>
                <a:spcPts val="67"/>
              </a:spcBef>
              <a:buNone/>
              <a:defRPr sz="1333">
                <a:solidFill>
                  <a:schemeClr val="tx1"/>
                </a:solidFill>
              </a:defRPr>
            </a:lvl1pPr>
            <a:lvl2pPr>
              <a:buNone/>
              <a:defRPr sz="1333">
                <a:solidFill>
                  <a:schemeClr val="tx1"/>
                </a:solidFill>
              </a:defRPr>
            </a:lvl2pPr>
            <a:lvl3pPr>
              <a:buNone/>
              <a:defRPr sz="1333">
                <a:solidFill>
                  <a:schemeClr val="tx1"/>
                </a:solidFill>
              </a:defRPr>
            </a:lvl3pPr>
            <a:lvl4pPr>
              <a:buNone/>
              <a:defRPr sz="1333">
                <a:solidFill>
                  <a:schemeClr val="tx1"/>
                </a:solidFill>
              </a:defRPr>
            </a:lvl4pPr>
            <a:lvl5pPr>
              <a:buNone/>
              <a:defRPr sz="1333">
                <a:solidFill>
                  <a:schemeClr val="tx1"/>
                </a:solidFill>
              </a:defRPr>
            </a:lvl5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AU" sz="1333" b="1" dirty="0">
                <a:latin typeface="Arial"/>
                <a:cs typeface="Arial"/>
              </a:rPr>
              <a:t>Insert team/discipline </a:t>
            </a:r>
            <a:r>
              <a:rPr lang="en-AU" sz="1333" b="1" spc="-27" dirty="0">
                <a:latin typeface="Arial"/>
                <a:cs typeface="Arial"/>
              </a:rPr>
              <a:t>area</a:t>
            </a:r>
            <a:endParaRPr lang="en-AU" sz="1333" dirty="0">
              <a:latin typeface="Arial"/>
              <a:cs typeface="Arial"/>
            </a:endParaRPr>
          </a:p>
          <a:p>
            <a:pPr marL="12700" marR="7112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Name</a:t>
            </a:r>
            <a:r>
              <a:rPr lang="en-AU" sz="1333" spc="-27" dirty="0">
                <a:latin typeface="Arial"/>
                <a:cs typeface="Arial"/>
              </a:rPr>
              <a:t> </a:t>
            </a:r>
            <a:r>
              <a:rPr lang="en-AU" sz="1333" spc="-13" dirty="0">
                <a:latin typeface="Arial"/>
                <a:cs typeface="Arial"/>
              </a:rPr>
              <a:t>Surname Title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+61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2</a:t>
            </a:r>
            <a:r>
              <a:rPr lang="en-AU" sz="1333" spc="-7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1234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spc="-27" dirty="0">
                <a:latin typeface="Arial"/>
                <a:cs typeface="Arial"/>
              </a:rPr>
              <a:t>5678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spc="-13" dirty="0">
                <a:latin typeface="Arial"/>
                <a:cs typeface="Arial"/>
                <a:hlinkClick r:id="rId2"/>
              </a:rPr>
              <a:t>first.last@sydney.edu.au</a:t>
            </a:r>
            <a:endParaRPr lang="en-AU" sz="1333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b="1" spc="-13" dirty="0" err="1">
                <a:latin typeface="Arial"/>
                <a:cs typeface="Arial"/>
              </a:rPr>
              <a:t>sydney.edu.au</a:t>
            </a:r>
            <a:r>
              <a:rPr lang="en-AU" sz="1333" b="1" spc="-13" dirty="0">
                <a:latin typeface="Arial"/>
                <a:cs typeface="Arial"/>
              </a:rPr>
              <a:t>/</a:t>
            </a:r>
            <a:r>
              <a:rPr lang="en-AU" sz="1333" b="1" spc="-13" dirty="0" err="1">
                <a:latin typeface="Arial"/>
                <a:cs typeface="Arial"/>
              </a:rPr>
              <a:t>xxxx</a:t>
            </a:r>
            <a:endParaRPr lang="en-AU" sz="1333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9247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slideLayout" Target="../slideLayouts/slideLayout41.xml"/><Relationship Id="rId26" Type="http://schemas.openxmlformats.org/officeDocument/2006/relationships/slideLayout" Target="../slideLayouts/slideLayout49.xml"/><Relationship Id="rId3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44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5" Type="http://schemas.openxmlformats.org/officeDocument/2006/relationships/slideLayout" Target="../slideLayouts/slideLayout48.xml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23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33.xml"/><Relationship Id="rId19" Type="http://schemas.openxmlformats.org/officeDocument/2006/relationships/slideLayout" Target="../slideLayouts/slideLayout42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Relationship Id="rId22" Type="http://schemas.openxmlformats.org/officeDocument/2006/relationships/slideLayout" Target="../slideLayouts/slideLayout45.xml"/><Relationship Id="rId27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2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5A53-4359-5CE7-5612-97DE0500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37303-BBFC-1C79-5D58-2336089FD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E0EE-25D8-B1AD-87B4-902A88AF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E4C41-C9DA-EFF5-979A-DB41A00E06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8C66B-2563-5846-7FDC-CB166D386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27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98" r:id="rId12"/>
    <p:sldLayoutId id="214748369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405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373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715" r:id="rId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E64626"/>
                </a:solidFill>
                <a:latin typeface="Times New Roman"/>
                <a:cs typeface="Times New Roman"/>
              </a:defRPr>
            </a:lvl1pPr>
          </a:lstStyle>
          <a:p>
            <a:r>
              <a:rPr lang="en-AU" dirty="0"/>
              <a:t>Click to add title</a:t>
            </a:r>
            <a:endParaRPr dirty="0"/>
          </a:p>
        </p:txBody>
      </p:sp>
      <p:sp>
        <p:nvSpPr>
          <p:cNvPr id="3" name="Placeholder 2"/>
          <p:cNvSpPr>
            <a:spLocks noGrp="1"/>
          </p:cNvSpPr>
          <p:nvPr>
            <p:ph type="body" idx="1"/>
          </p:nvPr>
        </p:nvSpPr>
        <p:spPr>
          <a:xfrm>
            <a:off x="2523067" y="2404532"/>
            <a:ext cx="8898467" cy="368300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pPr marL="171450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Click to edit Master text styles</a:t>
            </a:r>
          </a:p>
          <a:p>
            <a:pPr marL="838179" lvl="1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Second level</a:t>
            </a:r>
          </a:p>
          <a:p>
            <a:pPr marL="1447764" lvl="2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Third level</a:t>
            </a:r>
          </a:p>
          <a:p>
            <a:pPr marL="2057349" lvl="3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Fourth level</a:t>
            </a:r>
          </a:p>
          <a:p>
            <a:pPr marL="2666933" lvl="4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Fifth level</a:t>
            </a:r>
            <a:endParaRPr lang="en-US" sz="1333" dirty="0">
              <a:solidFill>
                <a:schemeClr val="tx2"/>
              </a:solidFill>
              <a:latin typeface="+mn-lt"/>
            </a:endParaRPr>
          </a:p>
          <a:p>
            <a:endParaRPr dirty="0"/>
          </a:p>
        </p:txBody>
      </p:sp>
      <p:sp>
        <p:nvSpPr>
          <p:cNvPr id="12" name="Placeholder 3">
            <a:extLst>
              <a:ext uri="{FF2B5EF4-FFF2-40B4-BE49-F238E27FC236}">
                <a16:creationId xmlns:a16="http://schemas.microsoft.com/office/drawing/2014/main" id="{6C0811DA-1436-1C90-68E8-D6A920491400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A642DA0-8A3F-F1D1-A500-3E3B635F525E}"/>
              </a:ext>
            </a:extLst>
          </p:cNvPr>
          <p:cNvSpPr/>
          <p:nvPr userDrawn="1"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07036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</p:sldLayoutIdLst>
  <p:txStyles>
    <p:titleStyle>
      <a:lvl1pPr>
        <a:defRPr>
          <a:solidFill>
            <a:schemeClr val="accent1"/>
          </a:solidFill>
          <a:latin typeface="Times" pitchFamily="2" charset="0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System Font Regular"/>
        <a:buChar char="-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593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ages.github.sydney.edu.au/informatics/sih_codeofconduct/" TargetMode="Externa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mailto:first.last@sydney.edu.au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13F0F5-647B-5036-D130-61E5CA1C99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9377" y="2002367"/>
            <a:ext cx="7378623" cy="1422400"/>
          </a:xfrm>
        </p:spPr>
        <p:txBody>
          <a:bodyPr/>
          <a:lstStyle/>
          <a:p>
            <a:r>
              <a:rPr lang="en-US" dirty="0"/>
              <a:t>Exploratory Data Analysis in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A08F1-FDE4-BBC5-1FA2-FA5E96EF23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Angus Fisk</a:t>
            </a:r>
          </a:p>
          <a:p>
            <a:r>
              <a:rPr lang="en-US" dirty="0"/>
              <a:t>Eden Zhang</a:t>
            </a:r>
          </a:p>
          <a:p>
            <a:r>
              <a:rPr lang="en-US" dirty="0"/>
              <a:t>Rose Smail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DE540-EECE-D430-51CC-14F67DFD9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52900" y="5606560"/>
            <a:ext cx="6816001" cy="552915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sydney.edu.au</a:t>
            </a:r>
            <a:r>
              <a:rPr lang="en-US" dirty="0"/>
              <a:t>/research/facilities/</a:t>
            </a:r>
            <a:r>
              <a:rPr lang="en-US" dirty="0" err="1"/>
              <a:t>sydney</a:t>
            </a:r>
            <a:r>
              <a:rPr lang="en-US" dirty="0"/>
              <a:t>-informatics-</a:t>
            </a:r>
            <a:r>
              <a:rPr lang="en-US" dirty="0" err="1"/>
              <a:t>hub.html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205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585AE0-3EDD-6B55-FDED-13730849691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Acknowledgement of country</a:t>
            </a:r>
          </a:p>
        </p:txBody>
      </p:sp>
    </p:spTree>
    <p:extLst>
      <p:ext uri="{BB962C8B-B14F-4D97-AF65-F5344CB8AC3E}">
        <p14:creationId xmlns:p14="http://schemas.microsoft.com/office/powerpoint/2010/main" val="74897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Code of Conduct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1939274"/>
            <a:ext cx="8913283" cy="3674533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To foster a positive and professional learning environment, we encourage the following kinds of behaviours at all our events and platforms:</a:t>
            </a:r>
          </a:p>
          <a:p>
            <a:pPr marL="0" indent="0">
              <a:buNone/>
            </a:pPr>
            <a:endParaRPr lang="en-AU" sz="2400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Use welcoming and inclusive language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Be respectful of different viewpoints and experiences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Gracefully accept constructive criticism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Focus on what is best for the community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Show courtesy and respect towards other community members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B0285-00B1-7DBE-DFDE-70F7403B0176}"/>
              </a:ext>
            </a:extLst>
          </p:cNvPr>
          <p:cNvSpPr txBox="1"/>
          <p:nvPr/>
        </p:nvSpPr>
        <p:spPr>
          <a:xfrm>
            <a:off x="2560650" y="5734789"/>
            <a:ext cx="7123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Our full CoC, with incident reporting guidelines, is available at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 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  <a:hlinkClick r:id="rId2"/>
              </a:rPr>
              <a:t>https://pages.github.sydney.edu.au/informatics/sih_codeofconduct/</a:t>
            </a:r>
            <a:endParaRPr lang="en-US" sz="1800" i="1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90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1">
            <a:extLst>
              <a:ext uri="{FF2B5EF4-FFF2-40B4-BE49-F238E27FC236}">
                <a16:creationId xmlns:a16="http://schemas.microsoft.com/office/drawing/2014/main" id="{ADD51412-3DD6-E63D-9DE9-82E4C50D9742}"/>
              </a:ext>
            </a:extLst>
          </p:cNvPr>
          <p:cNvSpPr txBox="1"/>
          <p:nvPr/>
        </p:nvSpPr>
        <p:spPr>
          <a:xfrm>
            <a:off x="9433695" y="77347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Add alt text for images that convey information. Otherwise, mark them as decorative.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48885-0715-CA1C-C25A-8A316FD34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Who we are  - Sydney Informatics Hub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1BDA333-51BA-D105-E495-BBCB52046EC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dirty="0"/>
              <a:t>Angus Fisk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479912A-4CBD-CD76-78EE-9997ABBFB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Veterinarian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DPhil in sleep at Oxford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BDFCD74-7A5B-9298-C7F9-D67CA8545AE8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US" dirty="0"/>
              <a:t>Rose Smail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1BC2FA4-D825-67BC-4A23-1B9EDEC948B2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Physicist 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in physics at Adelaide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23D84854-B195-1244-B4DE-2AE582821D2B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en-US" dirty="0"/>
              <a:t>Tim White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9D39A20-7D86-B609-ABBB-559580EB9069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Software developer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astrophysics at Sydney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20" name="Picture Placeholder 19" descr="A person in a suit and tie&#10;&#10;AI-generated content may be incorrect.">
            <a:extLst>
              <a:ext uri="{FF2B5EF4-FFF2-40B4-BE49-F238E27FC236}">
                <a16:creationId xmlns:a16="http://schemas.microsoft.com/office/drawing/2014/main" id="{B710100D-57C1-EC62-0BAE-A54BEC0AB48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8482" b="31344"/>
          <a:stretch/>
        </p:blipFill>
        <p:spPr>
          <a:xfrm>
            <a:off x="2522898" y="1881064"/>
            <a:ext cx="1762760" cy="1625600"/>
          </a:xfrm>
        </p:spPr>
      </p:pic>
      <p:pic>
        <p:nvPicPr>
          <p:cNvPr id="22" name="Picture Placeholder 21" descr="A person standing in front of a wall&#10;&#10;AI-generated content may be incorrect.">
            <a:extLst>
              <a:ext uri="{FF2B5EF4-FFF2-40B4-BE49-F238E27FC236}">
                <a16:creationId xmlns:a16="http://schemas.microsoft.com/office/drawing/2014/main" id="{CCD16C19-9306-550D-88DD-E26B7AD64A4C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4"/>
          <a:srcRect t="15405" b="15405"/>
          <a:stretch>
            <a:fillRect/>
          </a:stretch>
        </p:blipFill>
        <p:spPr/>
      </p:pic>
      <p:pic>
        <p:nvPicPr>
          <p:cNvPr id="32" name="Picture Placeholder 31" descr="A collage of a group of people&#10;&#10;AI-generated content may be incorrect.">
            <a:extLst>
              <a:ext uri="{FF2B5EF4-FFF2-40B4-BE49-F238E27FC236}">
                <a16:creationId xmlns:a16="http://schemas.microsoft.com/office/drawing/2014/main" id="{E5960D3D-63B2-3291-23BA-1CC88C979FC5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5"/>
          <a:srcRect l="16638" t="80522" r="65866" b="922"/>
          <a:stretch/>
        </p:blipFill>
        <p:spPr>
          <a:xfrm>
            <a:off x="8748931" y="2010367"/>
            <a:ext cx="1369528" cy="1496296"/>
          </a:xfrm>
        </p:spPr>
      </p:pic>
    </p:spTree>
    <p:extLst>
      <p:ext uri="{BB962C8B-B14F-4D97-AF65-F5344CB8AC3E}">
        <p14:creationId xmlns:p14="http://schemas.microsoft.com/office/powerpoint/2010/main" val="346695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68F13-AE35-D3A5-016D-609708B8A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FEB4-2411-9EFE-C922-768568F1E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A5947-E6EB-8037-60A7-225F82E40B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7658" y="2413001"/>
            <a:ext cx="10753876" cy="3462868"/>
          </a:xfrm>
        </p:spPr>
        <p:txBody>
          <a:bodyPr numCol="2">
            <a:normAutofit/>
          </a:bodyPr>
          <a:lstStyle/>
          <a:p>
            <a:r>
              <a:rPr lang="en-US" dirty="0"/>
              <a:t>What is Exploratory Data Analysis?</a:t>
            </a:r>
          </a:p>
          <a:p>
            <a:r>
              <a:rPr lang="en-US" dirty="0"/>
              <a:t>Load, view and select data in R</a:t>
            </a:r>
          </a:p>
          <a:p>
            <a:r>
              <a:rPr lang="en-US" dirty="0"/>
              <a:t>Plotting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Tidy data format</a:t>
            </a:r>
          </a:p>
          <a:p>
            <a:r>
              <a:rPr lang="en-US" dirty="0"/>
              <a:t>Missing data</a:t>
            </a:r>
          </a:p>
          <a:p>
            <a:r>
              <a:rPr lang="en-US" dirty="0"/>
              <a:t>Outliers</a:t>
            </a:r>
          </a:p>
          <a:p>
            <a:r>
              <a:rPr lang="en-US" dirty="0"/>
              <a:t>Saving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708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exploratory data analysis?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3D646-7998-9561-253B-F4161787B68D}"/>
              </a:ext>
            </a:extLst>
          </p:cNvPr>
          <p:cNvSpPr txBox="1"/>
          <p:nvPr/>
        </p:nvSpPr>
        <p:spPr>
          <a:xfrm>
            <a:off x="1099930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Research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D85C48-3B7A-6DFB-C4A5-92CDA5FF7BB0}"/>
              </a:ext>
            </a:extLst>
          </p:cNvPr>
          <p:cNvSpPr txBox="1"/>
          <p:nvPr/>
        </p:nvSpPr>
        <p:spPr>
          <a:xfrm>
            <a:off x="8328991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Data Question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A56F54-5700-A253-3E9F-FD3CEE964AE6}"/>
              </a:ext>
            </a:extLst>
          </p:cNvPr>
          <p:cNvCxnSpPr>
            <a:cxnSpLocks/>
          </p:cNvCxnSpPr>
          <p:nvPr/>
        </p:nvCxnSpPr>
        <p:spPr>
          <a:xfrm flipV="1">
            <a:off x="4598504" y="3428998"/>
            <a:ext cx="258417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731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78D1-47ED-CB88-93E6-F394360B3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3F3E0-FABC-146D-5221-1B0E433C1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your research question?</a:t>
            </a:r>
          </a:p>
          <a:p>
            <a:r>
              <a:rPr lang="en-US" dirty="0"/>
              <a:t>What is your data question?</a:t>
            </a:r>
          </a:p>
          <a:p>
            <a:endParaRPr lang="en-US" dirty="0"/>
          </a:p>
          <a:p>
            <a:r>
              <a:rPr lang="en-US" dirty="0"/>
              <a:t>Put in google doc </a:t>
            </a:r>
          </a:p>
        </p:txBody>
      </p:sp>
    </p:spTree>
    <p:extLst>
      <p:ext uri="{BB962C8B-B14F-4D97-AF65-F5344CB8AC3E}">
        <p14:creationId xmlns:p14="http://schemas.microsoft.com/office/powerpoint/2010/main" val="2188218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Where to start?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5E373C-B6FC-DD0B-1A0A-5E2F99F33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751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read_csv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data.csv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856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7B3D22C-361F-E935-F8B6-48C9CD2643A3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1BB82C-59BD-2271-B91F-D9F57287BF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076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4AF-2862-D01F-E58F-6577CDE9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7215-035F-6F96-01BF-E85299441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B9527521-306E-2973-FA7E-7906EC6098B6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F1A281-C2F3-078C-2D1B-E54E6FB05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  <p:sp>
        <p:nvSpPr>
          <p:cNvPr id="4" name="Doughnut 3">
            <a:extLst>
              <a:ext uri="{FF2B5EF4-FFF2-40B4-BE49-F238E27FC236}">
                <a16:creationId xmlns:a16="http://schemas.microsoft.com/office/drawing/2014/main" id="{596554A6-3721-2DA6-1760-9A2EB55F5658}"/>
              </a:ext>
            </a:extLst>
          </p:cNvPr>
          <p:cNvSpPr/>
          <p:nvPr/>
        </p:nvSpPr>
        <p:spPr>
          <a:xfrm>
            <a:off x="3429684" y="2145504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722B7E4D-FB42-9E61-7AD3-03BB935B2212}"/>
              </a:ext>
            </a:extLst>
          </p:cNvPr>
          <p:cNvSpPr/>
          <p:nvPr/>
        </p:nvSpPr>
        <p:spPr>
          <a:xfrm>
            <a:off x="3429683" y="5406328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ughnut 5">
            <a:extLst>
              <a:ext uri="{FF2B5EF4-FFF2-40B4-BE49-F238E27FC236}">
                <a16:creationId xmlns:a16="http://schemas.microsoft.com/office/drawing/2014/main" id="{1101E311-52B8-485B-1C2B-98F45028817C}"/>
              </a:ext>
            </a:extLst>
          </p:cNvPr>
          <p:cNvSpPr/>
          <p:nvPr/>
        </p:nvSpPr>
        <p:spPr>
          <a:xfrm>
            <a:off x="3028291" y="2004991"/>
            <a:ext cx="852364" cy="4789614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62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7B73F-F98E-04FF-582E-B30072AF8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0D567-1C7D-6468-8758-D58FE8374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91D09-369C-EDEF-3436-EE741F6445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head()</a:t>
            </a:r>
          </a:p>
          <a:p>
            <a:r>
              <a:rPr lang="en-US" dirty="0"/>
              <a:t>tail()</a:t>
            </a:r>
          </a:p>
          <a:p>
            <a:r>
              <a:rPr lang="en-US" dirty="0" err="1"/>
              <a:t>colnames</a:t>
            </a:r>
            <a:r>
              <a:rPr lang="en-US" dirty="0"/>
              <a:t>()</a:t>
            </a:r>
          </a:p>
          <a:p>
            <a:r>
              <a:rPr lang="en-US" dirty="0" err="1"/>
              <a:t>rownames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707088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A561-5AE5-17F3-6FC0-0CD6BF314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04A8F-E850-8D1A-8CE2-6D1794F80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4D9C35-C8E6-C65C-24DF-DFF9B4350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Code it! </a:t>
            </a:r>
          </a:p>
        </p:txBody>
      </p:sp>
    </p:spTree>
    <p:extLst>
      <p:ext uri="{BB962C8B-B14F-4D97-AF65-F5344CB8AC3E}">
        <p14:creationId xmlns:p14="http://schemas.microsoft.com/office/powerpoint/2010/main" val="1451444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EA826-DB2F-C5D0-CCBE-F29793CF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AA13F-F1E8-6D21-DC3D-9E7962CB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EE66B-A239-E3F4-EB5B-3ACC4F1FA9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cs typeface="Arial" panose="020B0604020202020204" pitchFamily="34" charset="0"/>
              </a:rPr>
              <a:t>Visualise</a:t>
            </a:r>
            <a:r>
              <a:rPr lang="en-US" dirty="0">
                <a:cs typeface="Arial" panose="020B0604020202020204" pitchFamily="34" charset="0"/>
              </a:rPr>
              <a:t> data</a:t>
            </a:r>
          </a:p>
          <a:p>
            <a:r>
              <a:rPr lang="en-US" dirty="0">
                <a:cs typeface="Arial" panose="020B0604020202020204" pitchFamily="34" charset="0"/>
              </a:rPr>
              <a:t>Sanity check</a:t>
            </a:r>
          </a:p>
          <a:p>
            <a:endParaRPr lang="en-US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195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D3D40-BEB9-E3F8-FA3C-8140E1898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163F2-182E-FD8D-3A2E-F6F40592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1F828C-E291-FFE9-0133-5B9889D792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cs typeface="Arial" panose="020B0604020202020204" pitchFamily="34" charset="0"/>
              </a:rPr>
              <a:t>ggplot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cs typeface="Arial" panose="020B0604020202020204" pitchFamily="34" charset="0"/>
              </a:rPr>
              <a:t>Needs </a:t>
            </a:r>
            <a:r>
              <a:rPr lang="en-US" dirty="0" err="1">
                <a:cs typeface="Arial" panose="020B0604020202020204" pitchFamily="34" charset="0"/>
              </a:rPr>
              <a:t>aes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 err="1">
                <a:cs typeface="Arial" panose="020B0604020202020204" pitchFamily="34" charset="0"/>
              </a:rPr>
              <a:t>geom</a:t>
            </a:r>
            <a:r>
              <a:rPr lang="en-US" dirty="0">
                <a:cs typeface="Arial" panose="020B0604020202020204" pitchFamily="34" charset="0"/>
              </a:rPr>
              <a:t>_?()</a:t>
            </a:r>
          </a:p>
          <a:p>
            <a:r>
              <a:rPr lang="en-US" dirty="0" err="1">
                <a:cs typeface="Arial" panose="020B0604020202020204" pitchFamily="34" charset="0"/>
              </a:rPr>
              <a:t>geom_histogram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 err="1">
                <a:cs typeface="Arial" panose="020B0604020202020204" pitchFamily="34" charset="0"/>
              </a:rPr>
              <a:t>geom_point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182972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EB773-F4C9-CB40-7756-E454E168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7D55-FA24-8467-2145-CD11F484E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D7314-36D8-80F2-CC33-5B4A0B81F6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Code it!</a:t>
            </a:r>
          </a:p>
        </p:txBody>
      </p:sp>
    </p:spTree>
    <p:extLst>
      <p:ext uri="{BB962C8B-B14F-4D97-AF65-F5344CB8AC3E}">
        <p14:creationId xmlns:p14="http://schemas.microsoft.com/office/powerpoint/2010/main" val="2777648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DA4E-F8D3-C50E-A18E-9AB7FDD2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416E-796E-F6AF-7791-3ED667B08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50439-1711-9C64-4B44-3F0A99D9F4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Make a plot!</a:t>
            </a:r>
          </a:p>
          <a:p>
            <a:r>
              <a:rPr lang="en-US" dirty="0">
                <a:cs typeface="Arial" panose="020B0604020202020204" pitchFamily="34" charset="0"/>
              </a:rPr>
              <a:t>Use </a:t>
            </a:r>
            <a:r>
              <a:rPr lang="en-US" dirty="0" err="1">
                <a:cs typeface="Arial" panose="020B0604020202020204" pitchFamily="34" charset="0"/>
              </a:rPr>
              <a:t>colnames</a:t>
            </a:r>
            <a:r>
              <a:rPr lang="en-US" dirty="0">
                <a:cs typeface="Arial" panose="020B0604020202020204" pitchFamily="34" charset="0"/>
              </a:rPr>
              <a:t> to choose variables</a:t>
            </a:r>
          </a:p>
          <a:p>
            <a:r>
              <a:rPr lang="en-US" dirty="0">
                <a:cs typeface="Arial" panose="020B0604020202020204" pitchFamily="34" charset="0"/>
              </a:rPr>
              <a:t>What does this plot mean?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>
                <a:cs typeface="Arial" panose="020B0604020202020204" pitchFamily="34" charset="0"/>
              </a:rPr>
              <a:t>Put answers in google doc</a:t>
            </a:r>
          </a:p>
        </p:txBody>
      </p:sp>
    </p:spTree>
    <p:extLst>
      <p:ext uri="{BB962C8B-B14F-4D97-AF65-F5344CB8AC3E}">
        <p14:creationId xmlns:p14="http://schemas.microsoft.com/office/powerpoint/2010/main" val="1685177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69FB9-3273-E546-75A3-16FE9D7D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0853-73D1-D7FB-F1E1-00F01270C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8FF7C-1E3E-F6F2-9817-DE54C16616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Column</a:t>
            </a:r>
          </a:p>
          <a:p>
            <a:r>
              <a:rPr lang="en-US" dirty="0">
                <a:cs typeface="Arial" panose="020B0604020202020204" pitchFamily="34" charset="0"/>
              </a:rPr>
              <a:t>Row</a:t>
            </a:r>
          </a:p>
          <a:p>
            <a:r>
              <a:rPr lang="en-US" dirty="0">
                <a:cs typeface="Arial" panose="020B0604020202020204" pitchFamily="34" charset="0"/>
              </a:rPr>
              <a:t>Range</a:t>
            </a:r>
          </a:p>
          <a:p>
            <a:r>
              <a:rPr lang="en-US" dirty="0">
                <a:cs typeface="Arial" panose="020B0604020202020204" pitchFamily="34" charset="0"/>
              </a:rPr>
              <a:t>Based on label</a:t>
            </a:r>
          </a:p>
        </p:txBody>
      </p:sp>
    </p:spTree>
    <p:extLst>
      <p:ext uri="{BB962C8B-B14F-4D97-AF65-F5344CB8AC3E}">
        <p14:creationId xmlns:p14="http://schemas.microsoft.com/office/powerpoint/2010/main" val="3214605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9A1CE-D7B7-4D5C-8C1A-39209C21D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97F17-5FF5-B5BB-DB40-6AAF146EB1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number?</a:t>
            </a:r>
          </a:p>
          <a:p>
            <a:r>
              <a:rPr lang="en-US" dirty="0"/>
              <a:t>Rows?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::slice()</a:t>
            </a:r>
          </a:p>
          <a:p>
            <a:r>
              <a:rPr lang="en-US" dirty="0"/>
              <a:t>Columns?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::select()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729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B5552-A903-D6FB-66FD-B68391E2C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E4A47-6BE9-4E33-DEC3-B82222E0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77F06-D693-C55E-E777-849BE647F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single value </a:t>
            </a:r>
          </a:p>
          <a:p>
            <a:pPr lvl="1"/>
            <a:r>
              <a:rPr lang="en-US" dirty="0"/>
              <a:t>slice(1)</a:t>
            </a:r>
          </a:p>
          <a:p>
            <a:r>
              <a:rPr lang="en-US" dirty="0"/>
              <a:t>range </a:t>
            </a:r>
          </a:p>
          <a:p>
            <a:pPr lvl="1"/>
            <a:r>
              <a:rPr lang="en-US" dirty="0"/>
              <a:t>slice(1:5)</a:t>
            </a:r>
          </a:p>
          <a:p>
            <a:r>
              <a:rPr lang="en-US" dirty="0"/>
              <a:t>specific values</a:t>
            </a:r>
          </a:p>
          <a:p>
            <a:pPr lvl="1"/>
            <a:r>
              <a:rPr lang="en-US" dirty="0"/>
              <a:t>slice(c(1,5,10))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17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F14C0-5F25-1855-4C8D-C369043B2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73EE3-3002-B62E-0AEE-DB72AEF55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33B2D-46CE-D3E1-A9A9-93B402BDB8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name?</a:t>
            </a:r>
          </a:p>
          <a:p>
            <a:r>
              <a:rPr lang="en-US" dirty="0"/>
              <a:t>Columns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::select()</a:t>
            </a:r>
          </a:p>
          <a:p>
            <a:pPr lvl="1"/>
            <a:r>
              <a:rPr lang="en-US" dirty="0" err="1"/>
              <a:t>data$name</a:t>
            </a:r>
            <a:endParaRPr lang="en-US" dirty="0"/>
          </a:p>
          <a:p>
            <a:pPr lvl="1"/>
            <a:r>
              <a:rPr lang="en-US" dirty="0"/>
              <a:t>data[name]</a:t>
            </a:r>
          </a:p>
          <a:p>
            <a:r>
              <a:rPr lang="en-US" dirty="0"/>
              <a:t>Rows</a:t>
            </a:r>
          </a:p>
          <a:p>
            <a:pPr lvl="1"/>
            <a:r>
              <a:rPr lang="en-US" dirty="0"/>
              <a:t>data[name,]</a:t>
            </a:r>
          </a:p>
        </p:txBody>
      </p:sp>
    </p:spTree>
    <p:extLst>
      <p:ext uri="{BB962C8B-B14F-4D97-AF65-F5344CB8AC3E}">
        <p14:creationId xmlns:p14="http://schemas.microsoft.com/office/powerpoint/2010/main" val="2038194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EE36-2301-E315-AEED-856B70716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F11F6-AAC3-E903-CB15-480FBFB8C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920359-971D-5AC0-8407-7C7612FF2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Code it!</a:t>
            </a:r>
          </a:p>
        </p:txBody>
      </p:sp>
    </p:spTree>
    <p:extLst>
      <p:ext uri="{BB962C8B-B14F-4D97-AF65-F5344CB8AC3E}">
        <p14:creationId xmlns:p14="http://schemas.microsoft.com/office/powerpoint/2010/main" val="2154349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63420-E269-47E9-0534-F54DBD93C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44BA0-CC44-0EC8-51A5-B3A014368D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Select the data on your birthday! </a:t>
            </a:r>
          </a:p>
          <a:p>
            <a:r>
              <a:rPr lang="en-US" dirty="0"/>
              <a:t>Months are columns</a:t>
            </a:r>
          </a:p>
          <a:p>
            <a:r>
              <a:rPr lang="en-US" dirty="0"/>
              <a:t>Days are rows</a:t>
            </a:r>
          </a:p>
          <a:p>
            <a:endParaRPr lang="en-US" dirty="0"/>
          </a:p>
          <a:p>
            <a:r>
              <a:rPr lang="en-US" dirty="0"/>
              <a:t>Put answer + code in google doc</a:t>
            </a:r>
          </a:p>
        </p:txBody>
      </p:sp>
    </p:spTree>
    <p:extLst>
      <p:ext uri="{BB962C8B-B14F-4D97-AF65-F5344CB8AC3E}">
        <p14:creationId xmlns:p14="http://schemas.microsoft.com/office/powerpoint/2010/main" val="63601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B6E54-3C1C-2B3C-B343-D24F1C734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98027-D618-01BF-0DCE-39FD3FA11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A4BC2-F2C9-DFF5-9BA7-57D8FE779C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Filter()</a:t>
            </a:r>
          </a:p>
          <a:p>
            <a:r>
              <a:rPr lang="en-US" dirty="0"/>
              <a:t>filter(column=condition)</a:t>
            </a:r>
          </a:p>
          <a:p>
            <a:r>
              <a:rPr lang="en-US" dirty="0"/>
              <a:t>filter(column1=condition1 &amp; column2=condition2)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0707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D396D-BBAC-7E43-42F4-178B09EE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7F15E-6450-C9D3-9B23-7A0C5BAF9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alter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C6A5B-6307-D780-5C6D-DD88AE2146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data$column</a:t>
            </a:r>
            <a:r>
              <a:rPr lang="en-US" dirty="0"/>
              <a:t> &lt;- value</a:t>
            </a:r>
          </a:p>
          <a:p>
            <a:r>
              <a:rPr lang="en-US" dirty="0"/>
              <a:t>filter with mutate() </a:t>
            </a:r>
          </a:p>
          <a:p>
            <a:r>
              <a:rPr lang="en-US" dirty="0" err="1"/>
              <a:t>ifelse</a:t>
            </a:r>
            <a:r>
              <a:rPr lang="en-US" dirty="0"/>
              <a:t>( condition, 	value if true, 	value if false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4738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84B7A-AC58-76D3-1F3F-192C2EB7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F3AB-22F7-9386-9DA8-9A064FCBF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16A4D-98E0-415A-E647-40D940B5B3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Change everyone older to you to “old”</a:t>
            </a:r>
          </a:p>
          <a:p>
            <a:r>
              <a:rPr lang="en-US" dirty="0"/>
              <a:t>filter the data so you only see </a:t>
            </a:r>
          </a:p>
          <a:p>
            <a:pPr lvl="1"/>
            <a:r>
              <a:rPr lang="en-US" dirty="0"/>
              <a:t>younger than you</a:t>
            </a:r>
          </a:p>
          <a:p>
            <a:pPr lvl="1"/>
            <a:r>
              <a:rPr lang="en-US" dirty="0"/>
              <a:t>older than you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72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74F-7C10-1627-E8B0-2D716CD60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3E91-17FE-52E6-D687-9E82071A3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744733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81AB-2A75-53AB-DAF5-3EEC86C8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DA2F2-1360-D015-460B-15E033234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What we want data to look like?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5CFE04C-4D5D-7CB3-1075-FCC2E2A8D5B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8" name="Picture 7" descr="A diagram of a column with arrows pointing to the top&#10;&#10;AI-generated content may be incorrect.">
            <a:extLst>
              <a:ext uri="{FF2B5EF4-FFF2-40B4-BE49-F238E27FC236}">
                <a16:creationId xmlns:a16="http://schemas.microsoft.com/office/drawing/2014/main" id="{DD7710AD-ED96-1D9B-B46A-8D0E4277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79" y="2029588"/>
            <a:ext cx="11249441" cy="326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014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A888-E589-C1E2-4352-AFB9767F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7C4D-5959-AB99-BA9A-D812529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Which is tidy?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F8AAD5CC-A22B-A015-6F74-7D1A956C87F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E3120BD9-67D4-5938-457E-C8AF6F6AB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762" y="2597323"/>
            <a:ext cx="4343400" cy="2171700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D1A23718-C883-BF83-11D1-440E74E3D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927" y="1987723"/>
            <a:ext cx="36703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569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B0F80-C012-FDE9-B252-78798A92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8C6B-0226-B5B5-56F0-BEC44737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 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3184BCA-DC8E-E35F-9CDE-AC3A2F8C6024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B57FE674-17BE-5A96-FF37-81FF1F636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473" y="1987723"/>
            <a:ext cx="3670300" cy="339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AFE9A0-F212-6E6D-B1DE-B2F9C616080D}"/>
              </a:ext>
            </a:extLst>
          </p:cNvPr>
          <p:cNvSpPr txBox="1"/>
          <p:nvPr/>
        </p:nvSpPr>
        <p:spPr>
          <a:xfrm>
            <a:off x="5494192" y="2073776"/>
            <a:ext cx="1690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data.melt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D7352FB-8697-243A-B97A-651F6803E8EB}"/>
              </a:ext>
            </a:extLst>
          </p:cNvPr>
          <p:cNvSpPr/>
          <p:nvPr/>
        </p:nvSpPr>
        <p:spPr>
          <a:xfrm rot="16200000">
            <a:off x="5832097" y="2616374"/>
            <a:ext cx="1457787" cy="2133597"/>
          </a:xfrm>
          <a:prstGeom prst="downArrow">
            <a:avLst>
              <a:gd name="adj1" fmla="val 31228"/>
              <a:gd name="adj2" fmla="val 52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61FA84F-2125-7A92-5BC8-656745E9BF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74" y="2597323"/>
            <a:ext cx="434340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917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B840F-8EE8-3CBA-D56D-2640BD43A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097C6-5EDF-0648-DF43-4B28FA647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CB50BB-06B8-5BB2-54C6-4C6C848A12E2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0B5B7250-7326-6C3C-B000-600AE5AF2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32" y="2421638"/>
            <a:ext cx="4703284" cy="2677411"/>
          </a:xfrm>
          <a:prstGeom prst="rect">
            <a:avLst/>
          </a:prstGeom>
        </p:spPr>
      </p:pic>
      <p:pic>
        <p:nvPicPr>
          <p:cNvPr id="6" name="Picture 5" descr="A screen shot of a table&#10;&#10;AI-generated content may be incorrect.">
            <a:extLst>
              <a:ext uri="{FF2B5EF4-FFF2-40B4-BE49-F238E27FC236}">
                <a16:creationId xmlns:a16="http://schemas.microsoft.com/office/drawing/2014/main" id="{DA5B59DB-FC4A-B769-B5B6-F1FDF6C55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" y="2501975"/>
            <a:ext cx="4754148" cy="2597074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F28C6D39-B4F5-4E02-1E72-6F1705C52A50}"/>
              </a:ext>
            </a:extLst>
          </p:cNvPr>
          <p:cNvSpPr/>
          <p:nvPr/>
        </p:nvSpPr>
        <p:spPr>
          <a:xfrm rot="16200000">
            <a:off x="5774921" y="2871382"/>
            <a:ext cx="693021" cy="1858259"/>
          </a:xfrm>
          <a:prstGeom prst="downArrow">
            <a:avLst>
              <a:gd name="adj1" fmla="val 2537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8E5B7B-C781-DF17-5698-97E43DAB3BD1}"/>
              </a:ext>
            </a:extLst>
          </p:cNvPr>
          <p:cNvSpPr txBox="1"/>
          <p:nvPr/>
        </p:nvSpPr>
        <p:spPr>
          <a:xfrm>
            <a:off x="5192302" y="2530716"/>
            <a:ext cx="17251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data.pivot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5122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A4AE-7A10-AAA8-B97F-7210D043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F2A2F-496E-0A6F-2AD3-D13F8571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48C5A-185D-FEA9-320D-FBD838F8D0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Reformat your data into the tidy format</a:t>
            </a:r>
          </a:p>
        </p:txBody>
      </p:sp>
    </p:spTree>
    <p:extLst>
      <p:ext uri="{BB962C8B-B14F-4D97-AF65-F5344CB8AC3E}">
        <p14:creationId xmlns:p14="http://schemas.microsoft.com/office/powerpoint/2010/main" val="32089138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9CF46-AEDA-E113-0DDC-68E133F8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27FB4-57A1-0D6B-692A-9E238A91D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clean the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8A137-99D3-78AA-6E8A-5C82D930A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Missing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Duplicates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 types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5288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AC273-8708-7B12-2DDC-DE1CF16C4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29013-586D-EB7C-D96E-7BAF1A5FF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6C7DE-0369-6A57-383C-6D581055A1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			&lt;- 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isnull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999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-1					&lt;- 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1193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8D258-0357-2A9E-2728-09D146D6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6146-6E14-714C-5751-B6468F58F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1BC2B-B567-2950-803F-771E941279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953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4A073-8C75-B675-BD74-6FFB1747F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52A4B-6657-B7C7-90B6-CBD993529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99305-D564-A29F-4C96-240AD27BD7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Count unique values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3457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D1CF3-D4F3-78A9-49C7-00645EBB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29A93-F86A-9E48-242C-95877CD37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AA0A15-6B90-9115-4AF2-CD44E75486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missing values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duplicate values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030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1387-CE6B-AC61-93F9-3E063C96E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36D77-ADF8-7E5B-15C6-4685830B2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F4055-BF82-5404-2DF4-55C99748B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Integer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1608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5C0B6-2C98-050A-72E0-E21E8C291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BBCF-494E-C838-F135-25F841F37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2760515-19AE-7BC9-EC4D-4657D01FBF39}"/>
              </a:ext>
            </a:extLst>
          </p:cNvPr>
          <p:cNvSpPr txBox="1">
            <a:spLocks/>
          </p:cNvSpPr>
          <p:nvPr/>
        </p:nvSpPr>
        <p:spPr>
          <a:xfrm>
            <a:off x="838200" y="2905780"/>
            <a:ext cx="3207327" cy="143019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int (int64)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float (float64)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BF7B72-42B7-A55C-3F89-1EF16D20D33A}"/>
              </a:ext>
            </a:extLst>
          </p:cNvPr>
          <p:cNvSpPr txBox="1"/>
          <p:nvPr/>
        </p:nvSpPr>
        <p:spPr>
          <a:xfrm>
            <a:off x="7536873" y="2905780"/>
            <a:ext cx="16450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3355B4-034F-5378-11D1-B4A0579AF2D0}"/>
              </a:ext>
            </a:extLst>
          </p:cNvPr>
          <p:cNvSpPr txBox="1"/>
          <p:nvPr/>
        </p:nvSpPr>
        <p:spPr>
          <a:xfrm>
            <a:off x="5403982" y="2712301"/>
            <a:ext cx="633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5175292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DFB07-75B2-E294-7D3C-97E5B0C9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71597-92A6-293D-1CF1-0A135BD4D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872FA-B008-47EF-5923-72286D7FDDEB}"/>
              </a:ext>
            </a:extLst>
          </p:cNvPr>
          <p:cNvSpPr txBox="1">
            <a:spLocks/>
          </p:cNvSpPr>
          <p:nvPr/>
        </p:nvSpPr>
        <p:spPr>
          <a:xfrm>
            <a:off x="741218" y="2824740"/>
            <a:ext cx="2708564" cy="12085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10F3F-5AA0-776D-098B-A85651AD16CB}"/>
              </a:ext>
            </a:extLst>
          </p:cNvPr>
          <p:cNvSpPr txBox="1"/>
          <p:nvPr/>
        </p:nvSpPr>
        <p:spPr>
          <a:xfrm>
            <a:off x="7536873" y="2905780"/>
            <a:ext cx="13644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Groups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A909E-0603-DBF4-994C-3695206D8E18}"/>
              </a:ext>
            </a:extLst>
          </p:cNvPr>
          <p:cNvSpPr txBox="1"/>
          <p:nvPr/>
        </p:nvSpPr>
        <p:spPr>
          <a:xfrm>
            <a:off x="5403982" y="2712301"/>
            <a:ext cx="633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615242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4C69F-FC1B-7BB4-9613-0A1CF1D82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45B86-6CC3-2E01-639A-54EB834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D12CB-5F1D-B10B-66EF-3CAA13A581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105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6041C-AB17-CD94-A6E0-19FCAC85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EF96E-97A7-62B4-1BA9-BC0CE585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B26D0-8772-1044-5D67-773A78AE99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expect?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59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1F922-8A15-4488-19D9-7F902233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DBED-858B-0F43-C8A8-A5965B060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A349B-6D89-BC10-84A8-0105E7F6EB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 at data types of your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Ensure it matches expectations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2751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F6CD-9BB9-F217-ABED-7D116FA6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186DD-213F-DF55-157E-433F09162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FE707-02F2-4147-7227-1E20707FD4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to find them?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1624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BAC6C-1F3A-431C-9C0C-22A9BB5A5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3ED27-84CB-6DB5-EE00-BEF135AC0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C6D68-74BB-00B1-6AAA-68608E3C14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Document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5256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B423C-DD77-486B-C088-E567A8C1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1E9D-1140-99B1-0F44-C482CA73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E17A2-46BC-9B76-A576-8386CB20E8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outliers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7174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F7C9-92D0-129A-C280-EFF7B10AF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341F5-6356-3FFE-0492-93F6B2557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save your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EDD01-28B6-5B64-2E25-0C7C7248FD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data.to_csv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data_clean.csv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0509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3CA5E-52E6-8316-D6B5-0A0888F26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6D10-8A93-A134-93A0-79A97FB9F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80534-97D1-E687-D097-784813844C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was not clear?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your next step with your own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0293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21C729B-89D2-CA6D-A2F9-7C7510BF6E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End slide with university and social links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B339CD-B7C1-7300-BACB-DA558F2FC5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Bef>
                <a:spcPts val="133"/>
              </a:spcBef>
            </a:pPr>
            <a:r>
              <a:rPr lang="en-AU" b="1" dirty="0">
                <a:latin typeface="Arial"/>
                <a:cs typeface="Arial"/>
              </a:rPr>
              <a:t>Sydney Informatics Hub</a:t>
            </a:r>
            <a:endParaRPr lang="en-AU" dirty="0">
              <a:latin typeface="Arial"/>
              <a:cs typeface="Arial"/>
            </a:endParaRPr>
          </a:p>
          <a:p>
            <a:r>
              <a:rPr lang="en-AU" dirty="0">
                <a:latin typeface="Arial"/>
                <a:cs typeface="Arial"/>
              </a:rPr>
              <a:t>Dr Angus Fisk </a:t>
            </a:r>
          </a:p>
          <a:p>
            <a:r>
              <a:rPr lang="en-AU" dirty="0">
                <a:latin typeface="Arial"/>
                <a:cs typeface="Arial"/>
              </a:rPr>
              <a:t>Dr Timothy White</a:t>
            </a:r>
          </a:p>
          <a:p>
            <a:r>
              <a:rPr lang="en-AU" dirty="0">
                <a:latin typeface="Arial"/>
                <a:cs typeface="Arial"/>
              </a:rPr>
              <a:t>Dr Rose Smail</a:t>
            </a:r>
          </a:p>
          <a:p>
            <a:r>
              <a:rPr lang="en-AU" spc="-13" dirty="0">
                <a:latin typeface="Arial"/>
                <a:cs typeface="Arial"/>
                <a:hlinkClick r:id="rId3"/>
              </a:rPr>
              <a:t>first.last@sydney.edu.au</a:t>
            </a:r>
            <a:endParaRPr lang="en-AU" dirty="0">
              <a:latin typeface="Arial"/>
              <a:cs typeface="Arial"/>
            </a:endParaRPr>
          </a:p>
          <a:p>
            <a:endParaRPr lang="en-AU" dirty="0">
              <a:latin typeface="Arial"/>
              <a:cs typeface="Arial"/>
            </a:endParaRPr>
          </a:p>
          <a:p>
            <a:r>
              <a:rPr lang="en-AU" b="1" spc="-13" dirty="0" err="1">
                <a:latin typeface="Arial"/>
                <a:cs typeface="Arial"/>
              </a:rPr>
              <a:t>angus.fisk@sydney.edu.au</a:t>
            </a:r>
            <a:endParaRPr lang="en-AU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5576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8A9E-65CD-AF2E-49A6-FE969B18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8B06-4AE1-9BD6-8A5D-56267AE29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</a:t>
            </a:r>
            <a:r>
              <a:rPr lang="en-US" dirty="0" err="1"/>
              <a:t>summarise</a:t>
            </a:r>
            <a:r>
              <a:rPr lang="en-US" dirty="0"/>
              <a:t>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56BF5-39F2-275B-9ED6-DB78BBD277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want to know?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57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itle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cknowledgement of Country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ontent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Graphic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</TotalTime>
  <Words>936</Words>
  <Application>Microsoft Macintosh PowerPoint</Application>
  <PresentationFormat>Widescreen</PresentationFormat>
  <Paragraphs>237</Paragraphs>
  <Slides>50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50</vt:i4>
      </vt:variant>
    </vt:vector>
  </HeadingPairs>
  <TitlesOfParts>
    <vt:vector size="61" baseType="lpstr">
      <vt:lpstr>Aptos</vt:lpstr>
      <vt:lpstr>Aptos Display</vt:lpstr>
      <vt:lpstr>Arial</vt:lpstr>
      <vt:lpstr>System Font Regular</vt:lpstr>
      <vt:lpstr>Times</vt:lpstr>
      <vt:lpstr>Times New Roman</vt:lpstr>
      <vt:lpstr>Office Theme</vt:lpstr>
      <vt:lpstr>Title slides</vt:lpstr>
      <vt:lpstr>Acknowledgement of Country</vt:lpstr>
      <vt:lpstr>Content slides</vt:lpstr>
      <vt:lpstr>Graphic slides</vt:lpstr>
      <vt:lpstr>PowerPoint Presentation</vt:lpstr>
      <vt:lpstr>Acknowledgement of country</vt:lpstr>
      <vt:lpstr>Code of Conduct</vt:lpstr>
      <vt:lpstr>Who we are  - Sydney Informatics Hub</vt:lpstr>
      <vt:lpstr>Overview</vt:lpstr>
      <vt:lpstr>What is exploratory data analysis?</vt:lpstr>
      <vt:lpstr>Exercise</vt:lpstr>
      <vt:lpstr>Where to start?</vt:lpstr>
      <vt:lpstr>Import the data</vt:lpstr>
      <vt:lpstr>How to view data</vt:lpstr>
      <vt:lpstr>How to view data</vt:lpstr>
      <vt:lpstr>How to view data</vt:lpstr>
      <vt:lpstr>How to view data</vt:lpstr>
      <vt:lpstr>Plotting data</vt:lpstr>
      <vt:lpstr>Plotting data</vt:lpstr>
      <vt:lpstr>Plotting data</vt:lpstr>
      <vt:lpstr>Exercise</vt:lpstr>
      <vt:lpstr>How to select data</vt:lpstr>
      <vt:lpstr>How to select data </vt:lpstr>
      <vt:lpstr>How to select data </vt:lpstr>
      <vt:lpstr>How to select data </vt:lpstr>
      <vt:lpstr>How to select data </vt:lpstr>
      <vt:lpstr>Exercise</vt:lpstr>
      <vt:lpstr>How to select data </vt:lpstr>
      <vt:lpstr>How to alter data </vt:lpstr>
      <vt:lpstr>Exercise</vt:lpstr>
      <vt:lpstr>Break</vt:lpstr>
      <vt:lpstr>What we want data to look like?</vt:lpstr>
      <vt:lpstr>Which is tidy?</vt:lpstr>
      <vt:lpstr>How to reformat </vt:lpstr>
      <vt:lpstr>How to reformat</vt:lpstr>
      <vt:lpstr>Your turn</vt:lpstr>
      <vt:lpstr>How to clean the data </vt:lpstr>
      <vt:lpstr>Missing data</vt:lpstr>
      <vt:lpstr>Missing data</vt:lpstr>
      <vt:lpstr>Duplicates</vt:lpstr>
      <vt:lpstr>Your turn</vt:lpstr>
      <vt:lpstr>Data types</vt:lpstr>
      <vt:lpstr>Data types</vt:lpstr>
      <vt:lpstr>Data types</vt:lpstr>
      <vt:lpstr>Data types</vt:lpstr>
      <vt:lpstr>Data types</vt:lpstr>
      <vt:lpstr>Your turn</vt:lpstr>
      <vt:lpstr>Outliers?</vt:lpstr>
      <vt:lpstr>Outliers?</vt:lpstr>
      <vt:lpstr>Your turn</vt:lpstr>
      <vt:lpstr>How to save your data</vt:lpstr>
      <vt:lpstr>Questions?</vt:lpstr>
      <vt:lpstr>End slide with university and social links</vt:lpstr>
      <vt:lpstr>How to summarise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Angus Fisk</dc:creator>
  <cp:lastModifiedBy>Angus Fisk</cp:lastModifiedBy>
  <cp:revision>57</cp:revision>
  <dcterms:created xsi:type="dcterms:W3CDTF">2025-01-21T03:28:01Z</dcterms:created>
  <dcterms:modified xsi:type="dcterms:W3CDTF">2025-02-26T01:09:03Z</dcterms:modified>
</cp:coreProperties>
</file>